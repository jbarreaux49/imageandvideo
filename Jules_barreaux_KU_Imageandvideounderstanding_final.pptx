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4" r:id="rId9"/>
    <p:sldId id="265" r:id="rId10"/>
    <p:sldId id="262" r:id="rId11"/>
  </p:sldIdLst>
  <p:sldSz cx="9144000" cy="5143500" type="screen16x9"/>
  <p:notesSz cx="6858000" cy="9144000"/>
  <p:embeddedFontLst>
    <p:embeddedFont>
      <p:font typeface="Georgia" panose="02040502050405020303" pitchFamily="18" charset="0"/>
      <p:regular r:id="rId13"/>
      <p:bold r:id="rId14"/>
      <p:italic r:id="rId15"/>
      <p:boldItalic r:id="rId16"/>
    </p:embeddedFont>
    <p:embeddedFont>
      <p:font typeface="Merriweather" panose="00000500000000000000" pitchFamily="2" charset="0"/>
      <p:regular r:id="rId17"/>
      <p:bold r:id="rId18"/>
      <p:italic r:id="rId19"/>
      <p:boldItalic r:id="rId20"/>
    </p:embeddedFont>
    <p:embeddedFont>
      <p:font typeface="Roboto" panose="02000000000000000000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804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a479c6f7d3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g2a479c6f7d3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a479c6f7d3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g2a479c6f7d3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20e32414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20e32414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20e324147f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20e324147f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20e324147f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20e324147f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20e324147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20e324147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20e324147f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20e324147f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avLst/>
            <a:gdLst/>
            <a:ahLst/>
            <a:cxnLst/>
            <a:rect l="l" t="t" r="r" b="b"/>
            <a:pathLst>
              <a:path w="172545" h="175975" extrusionOk="0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avLst/>
            <a:gdLst/>
            <a:ahLst/>
            <a:cxnLst/>
            <a:rect l="l" t="t" r="r" b="b"/>
            <a:pathLst>
              <a:path w="172676" h="175824" extrusionOk="0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2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ubTitle" idx="1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2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body" idx="1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 hasCustomPrompt="1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1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radig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export.arxiv.org/pdf/1812.01053" TargetMode="External"/><Relationship Id="rId7" Type="http://schemas.openxmlformats.org/officeDocument/2006/relationships/hyperlink" Target="https://www.microsoft.com/en-us/research/publication/ms-asl-a-large-scale-data-set-and-benchmark-for-understanding-american-sign-language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www.microsoft.com/en-us/download/details.aspx?id=100121" TargetMode="External"/><Relationship Id="rId5" Type="http://schemas.openxmlformats.org/officeDocument/2006/relationships/hyperlink" Target="https://www.sciencedirect.com/topics/computer-science/long-short-term-memory-networks" TargetMode="External"/><Relationship Id="rId4" Type="http://schemas.openxmlformats.org/officeDocument/2006/relationships/hyperlink" Target="https://medium.com/@rebeen.jaff/what-is-lstm-introduction-to-long-short-term-memory-66bd3855b9c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>
            <a:spLocks noGrp="1"/>
          </p:cNvSpPr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fr"/>
              <a:t>Sign Language Recognition</a:t>
            </a:r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1"/>
          </p:nvPr>
        </p:nvSpPr>
        <p:spPr>
          <a:xfrm>
            <a:off x="311700" y="1878535"/>
            <a:ext cx="4242600" cy="18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fr"/>
              <a:t>IVU Practicals (710.241)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fr"/>
              <a:t>WS 2024/2025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fr"/>
              <a:t>Jules Barreaux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fr"/>
              <a:t>jules.barreaux.student@tugraz.at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>
            <a:spLocks noGrp="1"/>
          </p:cNvSpPr>
          <p:nvPr>
            <p:ph type="title"/>
          </p:nvPr>
        </p:nvSpPr>
        <p:spPr>
          <a:xfrm>
            <a:off x="311700" y="380950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fr"/>
              <a:t>Project Objectives</a:t>
            </a:r>
            <a:endParaRPr/>
          </a:p>
        </p:txBody>
      </p:sp>
      <p:sp>
        <p:nvSpPr>
          <p:cNvPr id="71" name="Google Shape;71;p14"/>
          <p:cNvSpPr txBox="1"/>
          <p:nvPr/>
        </p:nvSpPr>
        <p:spPr>
          <a:xfrm>
            <a:off x="351400" y="1469925"/>
            <a:ext cx="5038500" cy="2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</a:pPr>
            <a:r>
              <a:rPr lang="fr" sz="1400" b="0" i="0" u="none" strike="noStrike" cap="none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Translate sign language gestures into text in real time using a webcam</a:t>
            </a:r>
            <a:endParaRPr sz="1400" b="0" i="0" u="none" strike="noStrike" cap="none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</a:pPr>
            <a:r>
              <a:rPr lang="fr" sz="1400" b="0" i="0" u="none" strike="noStrike" cap="none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Incorporate visual computing and deep learning methods</a:t>
            </a:r>
            <a:endParaRPr sz="1400" b="0" i="0" u="none" strike="noStrike" cap="none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</a:pPr>
            <a:r>
              <a:rPr lang="fr" sz="1400" b="0" i="0" u="none" strike="noStrike" cap="none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Focus on</a:t>
            </a:r>
            <a:r>
              <a:rPr lang="fr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ASL</a:t>
            </a:r>
            <a:r>
              <a:rPr lang="fr" sz="1400" b="0" i="0" u="none" strike="noStrike" cap="none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Sign Language</a:t>
            </a:r>
            <a:endParaRPr sz="1400" b="0" i="0" u="none" strike="noStrike" cap="none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/>
              <a:t>Data Used</a:t>
            </a:r>
            <a:endParaRPr dirty="0"/>
          </a:p>
        </p:txBody>
      </p:sp>
      <p:sp>
        <p:nvSpPr>
          <p:cNvPr id="77" name="Google Shape;77;p15"/>
          <p:cNvSpPr txBox="1"/>
          <p:nvPr/>
        </p:nvSpPr>
        <p:spPr>
          <a:xfrm>
            <a:off x="349650" y="1437375"/>
            <a:ext cx="8196900" cy="3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fr" sz="13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Data developed by a research team from Microsoft</a:t>
            </a:r>
            <a:endParaRPr sz="13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fr" sz="13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More than 200 signers (different individuals)</a:t>
            </a:r>
            <a:endParaRPr sz="13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fr" sz="13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Vocabulary of 1,000 distinct signs</a:t>
            </a:r>
            <a:endParaRPr sz="13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fr" sz="13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Wide variability in the proposed videos</a:t>
            </a:r>
          </a:p>
          <a:p>
            <a:pPr marL="14605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</a:pPr>
            <a:endParaRPr lang="fr" sz="13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endParaRPr lang="fr" sz="13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en-US" sz="13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Data sets for training, validating, and testing the model</a:t>
            </a:r>
            <a:endParaRPr sz="13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995DF6-238D-361B-89C6-871867CBF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 CNN or RNN</a:t>
            </a:r>
            <a:endParaRPr lang="fr-FR" dirty="0"/>
          </a:p>
        </p:txBody>
      </p:sp>
      <p:sp>
        <p:nvSpPr>
          <p:cNvPr id="3" name="Google Shape;77;p15">
            <a:extLst>
              <a:ext uri="{FF2B5EF4-FFF2-40B4-BE49-F238E27FC236}">
                <a16:creationId xmlns:a16="http://schemas.microsoft.com/office/drawing/2014/main" id="{EDCD89C4-0C23-295E-04D3-1930F3FA1BB3}"/>
              </a:ext>
            </a:extLst>
          </p:cNvPr>
          <p:cNvSpPr txBox="1"/>
          <p:nvPr/>
        </p:nvSpPr>
        <p:spPr>
          <a:xfrm>
            <a:off x="349650" y="1437375"/>
            <a:ext cx="8196900" cy="3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en-US" sz="13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LSTM (Long Short-Term Memory)</a:t>
            </a:r>
          </a:p>
          <a:p>
            <a:pPr marL="146050" lvl="2">
              <a:buClr>
                <a:schemeClr val="dk2"/>
              </a:buClr>
              <a:buSzPts val="1300"/>
            </a:pPr>
            <a:r>
              <a:rPr lang="en-US" sz="13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	-  Landmark detection</a:t>
            </a:r>
          </a:p>
          <a:p>
            <a:pPr marL="146050" lvl="2">
              <a:buClr>
                <a:schemeClr val="dk2"/>
              </a:buClr>
              <a:buSzPts val="1300"/>
            </a:pPr>
            <a:r>
              <a:rPr lang="en-US" sz="13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	- An inconclusive approach</a:t>
            </a: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fr" sz="13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I3D (3D CNN)</a:t>
            </a:r>
          </a:p>
          <a:p>
            <a:pPr marL="146050" lvl="2">
              <a:buClr>
                <a:schemeClr val="dk2"/>
              </a:buClr>
              <a:buSzPts val="1300"/>
            </a:pPr>
            <a:r>
              <a:rPr lang="fr" sz="13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	- </a:t>
            </a:r>
            <a:r>
              <a:rPr lang="en-US" sz="13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Based on the article by the research team that developed the MS-ASL database</a:t>
            </a:r>
          </a:p>
          <a:p>
            <a:pPr marL="146050" lvl="2">
              <a:buClr>
                <a:schemeClr val="dk2"/>
              </a:buClr>
              <a:buSzPts val="1300"/>
            </a:pPr>
            <a:endParaRPr lang="en-US" sz="13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46050" lvl="2">
              <a:buClr>
                <a:schemeClr val="dk2"/>
              </a:buClr>
              <a:buSzPts val="1300"/>
            </a:pPr>
            <a:endParaRPr lang="en-US" sz="13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46050" lvl="2">
              <a:buClr>
                <a:schemeClr val="dk2"/>
              </a:buClr>
              <a:buSzPts val="1300"/>
            </a:pPr>
            <a:endParaRPr lang="en-US" sz="13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46050" lvl="2">
              <a:buClr>
                <a:schemeClr val="dk2"/>
              </a:buClr>
              <a:buSzPts val="1300"/>
            </a:pPr>
            <a:endParaRPr lang="en-US" sz="13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46050" lvl="2">
              <a:buClr>
                <a:schemeClr val="dk2"/>
              </a:buClr>
              <a:buSzPts val="1300"/>
            </a:pPr>
            <a:endParaRPr lang="fr" sz="13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46050" lvl="1">
              <a:buClr>
                <a:schemeClr val="dk2"/>
              </a:buClr>
              <a:buSzPts val="1300"/>
            </a:pPr>
            <a:r>
              <a:rPr lang="fr" sz="13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	- </a:t>
            </a:r>
            <a:r>
              <a:rPr lang="fr-FR" sz="13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Use of </a:t>
            </a:r>
            <a:r>
              <a:rPr lang="fr-FR" sz="1300" dirty="0" err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raw</a:t>
            </a:r>
            <a:r>
              <a:rPr lang="fr-FR" sz="13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images</a:t>
            </a:r>
          </a:p>
          <a:p>
            <a:pPr marL="146050" lvl="1">
              <a:buClr>
                <a:schemeClr val="dk2"/>
              </a:buClr>
              <a:buSzPts val="1300"/>
            </a:pPr>
            <a:r>
              <a:rPr lang="fr-FR" sz="13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	- </a:t>
            </a:r>
            <a:r>
              <a:rPr lang="en-US" sz="13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Promising results for real-time use</a:t>
            </a:r>
            <a:endParaRPr sz="13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95ED937-11F6-1934-AD0E-D0D997CF1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095" y="2894884"/>
            <a:ext cx="3971923" cy="96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001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/>
              <a:t>LSTM Data preparation</a:t>
            </a:r>
            <a:endParaRPr dirty="0"/>
          </a:p>
        </p:txBody>
      </p:sp>
      <p:sp>
        <p:nvSpPr>
          <p:cNvPr id="83" name="Google Shape;83;p16"/>
          <p:cNvSpPr txBox="1"/>
          <p:nvPr/>
        </p:nvSpPr>
        <p:spPr>
          <a:xfrm>
            <a:off x="365200" y="1452925"/>
            <a:ext cx="7684200" cy="35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fr" sz="13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Extraction of hand landmarks from the different frames of each video with mediapipe</a:t>
            </a:r>
            <a:endParaRPr sz="13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fr" sz="13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Landmark Normalization</a:t>
            </a:r>
            <a:endParaRPr sz="13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fr" sz="13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Verification of the number of detected landmarks, and adjustment if necessary, to achieve a fixed length (truncation, padding)</a:t>
            </a:r>
            <a:endParaRPr sz="13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fr" sz="13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Ensure a uniform vector for each frame</a:t>
            </a:r>
            <a:endParaRPr sz="13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fr" sz="13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As a result, we obtain one file per video, containing vector of  landmarks for each frame within it</a:t>
            </a:r>
            <a:endParaRPr sz="13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fr" sz="13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Creation of fixed-length frame sequences from this data associated with their label</a:t>
            </a:r>
            <a:endParaRPr sz="13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Recurrent Neural Network RNN (LSTM)</a:t>
            </a:r>
            <a:endParaRPr/>
          </a:p>
        </p:txBody>
      </p:sp>
      <p:sp>
        <p:nvSpPr>
          <p:cNvPr id="89" name="Google Shape;89;p17"/>
          <p:cNvSpPr txBox="1"/>
          <p:nvPr/>
        </p:nvSpPr>
        <p:spPr>
          <a:xfrm>
            <a:off x="357425" y="1452925"/>
            <a:ext cx="7746300" cy="33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fr" sz="1300" dirty="0">
                <a:solidFill>
                  <a:schemeClr val="dk2"/>
                </a:solidFill>
              </a:rPr>
              <a:t>Usage of an LSTM model for sequence classification</a:t>
            </a:r>
            <a:endParaRPr sz="1300" dirty="0">
              <a:solidFill>
                <a:schemeClr val="dk2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dk2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fr" sz="1300" dirty="0">
                <a:solidFill>
                  <a:schemeClr val="dk2"/>
                </a:solidFill>
              </a:rPr>
              <a:t>Training the model while considering label underrepresentation or overrepresentation using class weights</a:t>
            </a:r>
          </a:p>
          <a:p>
            <a:pPr marL="14605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</a:pPr>
            <a:endParaRPr lang="fr" sz="1300" dirty="0">
              <a:solidFill>
                <a:schemeClr val="dk2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fr-FR" sz="1300" dirty="0" err="1">
                <a:solidFill>
                  <a:schemeClr val="dk2"/>
                </a:solidFill>
              </a:rPr>
              <a:t>Various</a:t>
            </a:r>
            <a:r>
              <a:rPr lang="fr-FR" sz="1300" dirty="0">
                <a:solidFill>
                  <a:schemeClr val="dk2"/>
                </a:solidFill>
              </a:rPr>
              <a:t> </a:t>
            </a:r>
            <a:r>
              <a:rPr lang="fr-FR" sz="1300" dirty="0" err="1">
                <a:solidFill>
                  <a:schemeClr val="dk2"/>
                </a:solidFill>
              </a:rPr>
              <a:t>errors</a:t>
            </a:r>
            <a:r>
              <a:rPr lang="fr-FR" sz="1300" dirty="0">
                <a:solidFill>
                  <a:schemeClr val="dk2"/>
                </a:solidFill>
              </a:rPr>
              <a:t> </a:t>
            </a:r>
            <a:r>
              <a:rPr lang="fr-FR" sz="1300" dirty="0" err="1">
                <a:solidFill>
                  <a:schemeClr val="dk2"/>
                </a:solidFill>
              </a:rPr>
              <a:t>were</a:t>
            </a:r>
            <a:r>
              <a:rPr lang="fr-FR" sz="1300" dirty="0">
                <a:solidFill>
                  <a:schemeClr val="dk2"/>
                </a:solidFill>
              </a:rPr>
              <a:t> made</a:t>
            </a:r>
            <a:endParaRPr sz="1300" dirty="0">
              <a:solidFill>
                <a:schemeClr val="dk2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2EFD13D9-3B51-6379-C205-37D75A196C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74" y="2905307"/>
            <a:ext cx="5389331" cy="167044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Data </a:t>
            </a:r>
            <a:r>
              <a:rPr lang="fr-FR" dirty="0" err="1"/>
              <a:t>preparation</a:t>
            </a:r>
            <a:r>
              <a:rPr lang="fr-FR" dirty="0"/>
              <a:t> I3D </a:t>
            </a:r>
            <a:endParaRPr dirty="0"/>
          </a:p>
        </p:txBody>
      </p:sp>
      <p:sp>
        <p:nvSpPr>
          <p:cNvPr id="95" name="Google Shape;95;p18"/>
          <p:cNvSpPr txBox="1"/>
          <p:nvPr/>
        </p:nvSpPr>
        <p:spPr>
          <a:xfrm>
            <a:off x="388500" y="1440675"/>
            <a:ext cx="8127000" cy="3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en-US" sz="13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Focus on 10 classes of words</a:t>
            </a: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endParaRPr sz="13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en-US" sz="13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20 to 30 videos for each sign</a:t>
            </a: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endParaRPr lang="en-US" sz="13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en-US" sz="13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Increasing the amount of data to train the model:</a:t>
            </a:r>
          </a:p>
          <a:p>
            <a:pPr marL="146050" lvl="1">
              <a:buClr>
                <a:schemeClr val="dk2"/>
              </a:buClr>
              <a:buSzPts val="1300"/>
            </a:pPr>
            <a:r>
              <a:rPr lang="en-US" sz="13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	- Contrast</a:t>
            </a:r>
          </a:p>
          <a:p>
            <a:pPr marL="146050" lvl="1">
              <a:buClr>
                <a:schemeClr val="dk2"/>
              </a:buClr>
              <a:buSzPts val="1300"/>
            </a:pPr>
            <a:r>
              <a:rPr lang="en-US" sz="13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	- Cropping</a:t>
            </a:r>
          </a:p>
          <a:p>
            <a:pPr marL="146050" lvl="1">
              <a:buClr>
                <a:schemeClr val="dk2"/>
              </a:buClr>
              <a:buSzPts val="1300"/>
            </a:pPr>
            <a:r>
              <a:rPr lang="en-US" sz="13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	- Brightness</a:t>
            </a:r>
          </a:p>
          <a:p>
            <a:pPr marL="146050" lvl="1">
              <a:buClr>
                <a:schemeClr val="dk2"/>
              </a:buClr>
              <a:buSzPts val="1300"/>
            </a:pPr>
            <a:r>
              <a:rPr lang="en-US" sz="13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	- Horizontal flip</a:t>
            </a: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endParaRPr sz="13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en-US" sz="13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Creation of files containing a fixed number of frames representative of each video</a:t>
            </a:r>
            <a:endParaRPr sz="13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808671-EF7B-E61B-B42A-F6FE3A4DB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Training the I3D model</a:t>
            </a:r>
          </a:p>
        </p:txBody>
      </p:sp>
      <p:pic>
        <p:nvPicPr>
          <p:cNvPr id="4" name="Image 3" descr="Une image contenant texte, diagramme, ligne, Tracé&#10;&#10;Description générée automatiquement">
            <a:extLst>
              <a:ext uri="{FF2B5EF4-FFF2-40B4-BE49-F238E27FC236}">
                <a16:creationId xmlns:a16="http://schemas.microsoft.com/office/drawing/2014/main" id="{EB2E16B9-EC74-28C8-3BCF-E226719C8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266" y="2679461"/>
            <a:ext cx="5617029" cy="2340429"/>
          </a:xfrm>
          <a:prstGeom prst="rect">
            <a:avLst/>
          </a:prstGeom>
        </p:spPr>
      </p:pic>
      <p:sp>
        <p:nvSpPr>
          <p:cNvPr id="5" name="Google Shape;95;p18">
            <a:extLst>
              <a:ext uri="{FF2B5EF4-FFF2-40B4-BE49-F238E27FC236}">
                <a16:creationId xmlns:a16="http://schemas.microsoft.com/office/drawing/2014/main" id="{3A081CB8-D80E-CB9B-B6F2-211643A5B9E1}"/>
              </a:ext>
            </a:extLst>
          </p:cNvPr>
          <p:cNvSpPr txBox="1"/>
          <p:nvPr/>
        </p:nvSpPr>
        <p:spPr>
          <a:xfrm>
            <a:off x="311725" y="1351297"/>
            <a:ext cx="8127000" cy="3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en-US" sz="13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 the model, one of the four variations created during augmentation is passed for each class in each iteration</a:t>
            </a: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endParaRPr lang="en-US" sz="13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en-US" sz="13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Between 15 and 20 data samples are passed through the model</a:t>
            </a: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endParaRPr lang="en-US" sz="13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en-US" sz="13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At each iteration, the model's accuracy is measured using the validation data</a:t>
            </a:r>
          </a:p>
        </p:txBody>
      </p:sp>
    </p:spTree>
    <p:extLst>
      <p:ext uri="{BB962C8B-B14F-4D97-AF65-F5344CB8AC3E}">
        <p14:creationId xmlns:p14="http://schemas.microsoft.com/office/powerpoint/2010/main" val="2551730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0217AA-EB84-8330-7D49-B8BA65C70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Result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I3D Model</a:t>
            </a:r>
          </a:p>
        </p:txBody>
      </p:sp>
      <p:sp>
        <p:nvSpPr>
          <p:cNvPr id="3" name="Google Shape;95;p18">
            <a:extLst>
              <a:ext uri="{FF2B5EF4-FFF2-40B4-BE49-F238E27FC236}">
                <a16:creationId xmlns:a16="http://schemas.microsoft.com/office/drawing/2014/main" id="{CC55197F-3D3D-21CF-77D9-EED04DE83BF3}"/>
              </a:ext>
            </a:extLst>
          </p:cNvPr>
          <p:cNvSpPr txBox="1"/>
          <p:nvPr/>
        </p:nvSpPr>
        <p:spPr>
          <a:xfrm>
            <a:off x="311725" y="1351297"/>
            <a:ext cx="8127000" cy="3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en-US" sz="13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With the test data, an accuracy of approximately 70% to 80% on average</a:t>
            </a: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endParaRPr lang="en-US" sz="13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endParaRPr lang="en-US" sz="13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en-US" sz="13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Better results obtained after data augmentation</a:t>
            </a: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endParaRPr lang="en-US" sz="13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endParaRPr lang="en-US" sz="13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en-US" sz="13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next steps will be:</a:t>
            </a:r>
          </a:p>
          <a:p>
            <a:pPr marL="146050" lvl="1">
              <a:buClr>
                <a:schemeClr val="dk2"/>
              </a:buClr>
              <a:buSzPts val="1300"/>
            </a:pPr>
            <a:r>
              <a:rPr lang="en-US" sz="13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	- Creating more diverse data: different cropping, contrast, and noise</a:t>
            </a:r>
          </a:p>
          <a:p>
            <a:pPr marL="146050" lvl="1">
              <a:buClr>
                <a:schemeClr val="dk2"/>
              </a:buClr>
              <a:buSzPts val="1300"/>
            </a:pPr>
            <a:r>
              <a:rPr lang="en-US" sz="13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	- Testing in real time</a:t>
            </a:r>
          </a:p>
          <a:p>
            <a:pPr marL="146050" lvl="1">
              <a:buClr>
                <a:schemeClr val="dk2"/>
              </a:buClr>
              <a:buSzPts val="1300"/>
            </a:pPr>
            <a:r>
              <a:rPr lang="en-US" sz="13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	- With more classes</a:t>
            </a:r>
          </a:p>
          <a:p>
            <a:pPr marL="146050" lvl="1">
              <a:buClr>
                <a:schemeClr val="dk2"/>
              </a:buClr>
              <a:buSzPts val="1300"/>
            </a:pPr>
            <a:endParaRPr lang="en-US" sz="13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endParaRPr lang="en-US" sz="13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4605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</a:pPr>
            <a:endParaRPr lang="en-US" sz="13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74452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References</a:t>
            </a:r>
            <a:endParaRPr/>
          </a:p>
        </p:txBody>
      </p:sp>
      <p:sp>
        <p:nvSpPr>
          <p:cNvPr id="102" name="Google Shape;102;p19"/>
          <p:cNvSpPr txBox="1"/>
          <p:nvPr/>
        </p:nvSpPr>
        <p:spPr>
          <a:xfrm>
            <a:off x="311725" y="1437400"/>
            <a:ext cx="7847400" cy="33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 u="sng" dirty="0">
                <a:solidFill>
                  <a:schemeClr val="hlink"/>
                </a:solidFill>
                <a:highlight>
                  <a:srgbClr val="FFFFFF"/>
                </a:highlight>
                <a:hlinkClick r:id="rId3"/>
              </a:rPr>
              <a:t>A Large-Scale Data Set and Benchmark for Understanding American Sign Language</a:t>
            </a:r>
            <a:endParaRPr sz="1300" dirty="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69565"/>
              </a:lnSpc>
              <a:spcBef>
                <a:spcPts val="2700"/>
              </a:spcBef>
              <a:spcAft>
                <a:spcPts val="0"/>
              </a:spcAft>
              <a:buNone/>
            </a:pPr>
            <a:r>
              <a:rPr lang="fr" sz="1300" u="sng" dirty="0">
                <a:solidFill>
                  <a:schemeClr val="hlink"/>
                </a:solidFill>
                <a:highlight>
                  <a:srgbClr val="FFFFFF"/>
                </a:highlight>
                <a:hlinkClick r:id="rId4"/>
              </a:rPr>
              <a:t>What is LSTM? Introduction to Long Short-Term Memory</a:t>
            </a:r>
            <a:endParaRPr sz="1300" dirty="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fr" sz="1300" u="sng" dirty="0">
                <a:solidFill>
                  <a:schemeClr val="hlink"/>
                </a:solidFill>
                <a:highlight>
                  <a:schemeClr val="lt1"/>
                </a:highlight>
                <a:latin typeface="Georgia"/>
                <a:ea typeface="Georgia"/>
                <a:cs typeface="Georgia"/>
                <a:sym typeface="Georgia"/>
                <a:hlinkClick r:id="rId5"/>
              </a:rPr>
              <a:t>Long Short-Term Memory Networks</a:t>
            </a:r>
            <a:endParaRPr lang="fr" sz="1300" u="sng" dirty="0">
              <a:solidFill>
                <a:schemeClr val="hlink"/>
              </a:solidFill>
              <a:highlight>
                <a:schemeClr val="lt1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fr-FR" sz="1300" u="sng" dirty="0">
                <a:solidFill>
                  <a:schemeClr val="hlink"/>
                </a:solidFill>
                <a:highlight>
                  <a:schemeClr val="lt1"/>
                </a:highlight>
                <a:latin typeface="Georgia"/>
                <a:ea typeface="Georgia"/>
                <a:cs typeface="Georgia"/>
                <a:sym typeface="Georgia"/>
                <a:hlinkClick r:id="rId6"/>
              </a:rPr>
              <a:t>MS-ASL American </a:t>
            </a:r>
            <a:r>
              <a:rPr lang="fr-FR" sz="1300" u="sng" dirty="0" err="1">
                <a:solidFill>
                  <a:schemeClr val="hlink"/>
                </a:solidFill>
                <a:highlight>
                  <a:schemeClr val="lt1"/>
                </a:highlight>
                <a:latin typeface="Georgia"/>
                <a:ea typeface="Georgia"/>
                <a:cs typeface="Georgia"/>
                <a:sym typeface="Georgia"/>
                <a:hlinkClick r:id="rId6"/>
              </a:rPr>
              <a:t>Sign</a:t>
            </a:r>
            <a:r>
              <a:rPr lang="fr-FR" sz="1300" u="sng" dirty="0">
                <a:solidFill>
                  <a:schemeClr val="hlink"/>
                </a:solidFill>
                <a:highlight>
                  <a:schemeClr val="lt1"/>
                </a:highlight>
                <a:latin typeface="Georgia"/>
                <a:ea typeface="Georgia"/>
                <a:cs typeface="Georgia"/>
                <a:sym typeface="Georgia"/>
                <a:hlinkClick r:id="rId6"/>
              </a:rPr>
              <a:t> </a:t>
            </a:r>
            <a:r>
              <a:rPr lang="fr-FR" sz="1300" u="sng" dirty="0" err="1">
                <a:solidFill>
                  <a:schemeClr val="hlink"/>
                </a:solidFill>
                <a:highlight>
                  <a:schemeClr val="lt1"/>
                </a:highlight>
                <a:latin typeface="Georgia"/>
                <a:ea typeface="Georgia"/>
                <a:cs typeface="Georgia"/>
                <a:sym typeface="Georgia"/>
                <a:hlinkClick r:id="rId6"/>
              </a:rPr>
              <a:t>Language</a:t>
            </a:r>
            <a:r>
              <a:rPr lang="fr-FR" sz="1300" u="sng" dirty="0">
                <a:solidFill>
                  <a:schemeClr val="hlink"/>
                </a:solidFill>
                <a:highlight>
                  <a:schemeClr val="lt1"/>
                </a:highlight>
                <a:latin typeface="Georgia"/>
                <a:ea typeface="Georgia"/>
                <a:cs typeface="Georgia"/>
                <a:sym typeface="Georgia"/>
                <a:hlinkClick r:id="rId6"/>
              </a:rPr>
              <a:t> </a:t>
            </a:r>
            <a:r>
              <a:rPr lang="fr-FR" sz="1300" u="sng" dirty="0" err="1">
                <a:solidFill>
                  <a:schemeClr val="hlink"/>
                </a:solidFill>
                <a:highlight>
                  <a:schemeClr val="lt1"/>
                </a:highlight>
                <a:latin typeface="Georgia"/>
                <a:ea typeface="Georgia"/>
                <a:cs typeface="Georgia"/>
                <a:sym typeface="Georgia"/>
                <a:hlinkClick r:id="rId6"/>
              </a:rPr>
              <a:t>Dataset</a:t>
            </a:r>
            <a:endParaRPr lang="fr-FR" sz="1300" u="sng" dirty="0">
              <a:solidFill>
                <a:schemeClr val="hlink"/>
              </a:solidFill>
              <a:highlight>
                <a:schemeClr val="lt1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-US" sz="1300" u="sng" dirty="0">
                <a:solidFill>
                  <a:schemeClr val="hlink"/>
                </a:solidFill>
                <a:highlight>
                  <a:schemeClr val="lt1"/>
                </a:highlight>
                <a:latin typeface="Georgia"/>
                <a:ea typeface="Georgia"/>
                <a:cs typeface="Georgia"/>
                <a:sym typeface="Georgia"/>
                <a:hlinkClick r:id="rId7"/>
              </a:rPr>
              <a:t>MS-ASL: A Large-Scale Data Set and Benchmark for Understanding American Sign Language</a:t>
            </a:r>
            <a:endParaRPr lang="fr" sz="1300" u="sng" dirty="0">
              <a:solidFill>
                <a:schemeClr val="hlink"/>
              </a:solidFill>
              <a:highlight>
                <a:schemeClr val="lt1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endParaRPr sz="1300" dirty="0">
              <a:solidFill>
                <a:schemeClr val="lt2"/>
              </a:solidFill>
              <a:highlight>
                <a:schemeClr val="lt1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fr" sz="13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fr" sz="13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3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454</Words>
  <Application>Microsoft Office PowerPoint</Application>
  <PresentationFormat>Affichage à l'écran (16:9)</PresentationFormat>
  <Paragraphs>110</Paragraphs>
  <Slides>10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Georgia</vt:lpstr>
      <vt:lpstr>Merriweather</vt:lpstr>
      <vt:lpstr>Roboto</vt:lpstr>
      <vt:lpstr>Arial</vt:lpstr>
      <vt:lpstr>Paradigm</vt:lpstr>
      <vt:lpstr>Sign Language Recognition</vt:lpstr>
      <vt:lpstr>Project Objectives</vt:lpstr>
      <vt:lpstr>Data Used</vt:lpstr>
      <vt:lpstr>Using a CNN or RNN</vt:lpstr>
      <vt:lpstr>LSTM Data preparation</vt:lpstr>
      <vt:lpstr>Recurrent Neural Network RNN (LSTM)</vt:lpstr>
      <vt:lpstr>Data preparation I3D </vt:lpstr>
      <vt:lpstr>Training the I3D model</vt:lpstr>
      <vt:lpstr>Result with I3D Model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Barreaux, Jules Albert Gaston</cp:lastModifiedBy>
  <cp:revision>2</cp:revision>
  <dcterms:modified xsi:type="dcterms:W3CDTF">2025-01-17T00:08:01Z</dcterms:modified>
</cp:coreProperties>
</file>